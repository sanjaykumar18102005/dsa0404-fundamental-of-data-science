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39C3C3-63FB-41FE-9AB7-6910B88E221C}" v="2" dt="2026-08-03T06:20:12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Y KUMAR S" userId="f13db84e0208f0a5" providerId="LiveId" clId="{73572562-93BF-47F3-9B44-51B81499DC63}"/>
    <pc:docChg chg="modSld">
      <pc:chgData name="SANJAY KUMAR S" userId="f13db84e0208f0a5" providerId="LiveId" clId="{73572562-93BF-47F3-9B44-51B81499DC63}" dt="2026-08-03T06:20:17.896" v="2" actId="1076"/>
      <pc:docMkLst>
        <pc:docMk/>
      </pc:docMkLst>
      <pc:sldChg chg="addSp modSp mod">
        <pc:chgData name="SANJAY KUMAR S" userId="f13db84e0208f0a5" providerId="LiveId" clId="{73572562-93BF-47F3-9B44-51B81499DC63}" dt="2026-08-03T06:20:17.896" v="2" actId="1076"/>
        <pc:sldMkLst>
          <pc:docMk/>
          <pc:sldMk cId="0" sldId="256"/>
        </pc:sldMkLst>
        <pc:spChg chg="add mod">
          <ac:chgData name="SANJAY KUMAR S" userId="f13db84e0208f0a5" providerId="LiveId" clId="{73572562-93BF-47F3-9B44-51B81499DC63}" dt="2026-08-03T06:20:17.896" v="2" actId="1076"/>
          <ac:spMkLst>
            <pc:docMk/>
            <pc:sldMk cId="0" sldId="256"/>
            <ac:spMk id="18" creationId="{736A6F3F-55C1-93DF-B11C-756115C5D2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93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3B6EA5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937760"/>
            <a:ext cx="2743200" cy="2743200"/>
          </a:xfrm>
          <a:prstGeom prst="ellipse">
            <a:avLst/>
          </a:prstGeom>
          <a:solidFill>
            <a:srgbClr val="3B6EA5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SCIENCE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Python Libraries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Data Scientists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3520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tour of the core toolkit: NumPy, Pandas, Matplotlib, SciPy, and Scikit-learn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43434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E2F5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434340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19656" y="434340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1E2F52"/>
          </a:solidFill>
          <a:ln/>
        </p:spPr>
      </p:sp>
      <p:sp>
        <p:nvSpPr>
          <p:cNvPr id="11" name="Text 9"/>
          <p:cNvSpPr/>
          <p:nvPr/>
        </p:nvSpPr>
        <p:spPr>
          <a:xfrm>
            <a:off x="1819656" y="4343400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81528" y="43434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E2F52"/>
          </a:solidFill>
          <a:ln/>
        </p:spPr>
      </p:sp>
      <p:sp>
        <p:nvSpPr>
          <p:cNvPr id="13" name="Text 11"/>
          <p:cNvSpPr/>
          <p:nvPr/>
        </p:nvSpPr>
        <p:spPr>
          <a:xfrm>
            <a:off x="3081528" y="43434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45736" y="43434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E2F52"/>
          </a:solidFill>
          <a:ln/>
        </p:spPr>
      </p:sp>
      <p:sp>
        <p:nvSpPr>
          <p:cNvPr id="15" name="Text 13"/>
          <p:cNvSpPr/>
          <p:nvPr/>
        </p:nvSpPr>
        <p:spPr>
          <a:xfrm>
            <a:off x="4745736" y="434340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07024" y="4343400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1E2F52"/>
          </a:solidFill>
          <a:ln/>
        </p:spPr>
      </p:sp>
      <p:sp>
        <p:nvSpPr>
          <p:cNvPr id="17" name="Text 15"/>
          <p:cNvSpPr/>
          <p:nvPr/>
        </p:nvSpPr>
        <p:spPr>
          <a:xfrm>
            <a:off x="5907024" y="434340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6A6F3F-55C1-93DF-B11C-756115C5D291}"/>
              </a:ext>
            </a:extLst>
          </p:cNvPr>
          <p:cNvSpPr txBox="1"/>
          <p:nvPr/>
        </p:nvSpPr>
        <p:spPr>
          <a:xfrm>
            <a:off x="658368" y="4964026"/>
            <a:ext cx="5639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SANJAY KUMAR </a:t>
            </a:r>
            <a:b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192324150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B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1508760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 for Data Science
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ecosystem that powers modern analytics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130552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B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2130552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Science Stack
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five libraries fit together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752344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B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752344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
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 with n-dimensional arrays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374136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B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3374136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
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for tabular, labeled data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09360" y="150876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B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03720" y="1508760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
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publication-quality visualization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09360" y="2130552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B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03720" y="2130552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
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computing algorithms built on NumPy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360" y="2752344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B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03720" y="2752344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
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machine learning made simple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0" y="3374136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B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03720" y="3374136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Takeaways
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toolkit into practice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Science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Python for Data Science?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readable language backed by a mature scientific-computing ecosystem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Readable &amp; Concise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English-like syntax lowers the barrier between an idea and working code — critical for exploratory analysis.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16002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1828800"/>
            <a:ext cx="502920" cy="502920"/>
          </a:xfrm>
          <a:prstGeom prst="ellipse">
            <a:avLst/>
          </a:prstGeom>
          <a:solidFill>
            <a:srgbClr val="16223B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39312" y="2468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Ecosystem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9312" y="28803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 Matplotlib, SciPy, and Scikit-learn form an interoperable stack covering the entire workflow.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2784" y="16002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01384" y="1828800"/>
            <a:ext cx="502920" cy="502920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16" name="Text 14"/>
          <p:cNvSpPr/>
          <p:nvPr/>
        </p:nvSpPr>
        <p:spPr>
          <a:xfrm>
            <a:off x="6501384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01384" y="2468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&amp; Support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01384" y="28803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users, extensive documentation, and continuous open-source development.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34856" y="16002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38100" dir="5400000" algn="bl" rotWithShape="0">
              <a:srgbClr val="1B24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63456" y="1828800"/>
            <a:ext cx="502920" cy="502920"/>
          </a:xfrm>
          <a:prstGeom prst="ellipse">
            <a:avLst/>
          </a:prstGeom>
          <a:solidFill>
            <a:srgbClr val="16223B"/>
          </a:solidFill>
          <a:ln/>
        </p:spPr>
      </p:sp>
      <p:sp>
        <p:nvSpPr>
          <p:cNvPr id="21" name="Text 19"/>
          <p:cNvSpPr/>
          <p:nvPr/>
        </p:nvSpPr>
        <p:spPr>
          <a:xfrm>
            <a:off x="9363456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63456" y="2468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Interoperability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63456" y="28803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SQL, big-data tools (Spark), deep learning frameworks, and production systems.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Science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Science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library builds on the one below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863840" cy="777240"/>
          </a:xfrm>
          <a:prstGeom prst="roundRect">
            <a:avLst>
              <a:gd name="adj" fmla="val 7059"/>
            </a:avLst>
          </a:prstGeom>
          <a:solidFill>
            <a:srgbClr val="1622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&amp; evaluation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7223760" cy="777240"/>
          </a:xfrm>
          <a:prstGeom prst="roundRect">
            <a:avLst>
              <a:gd name="adj" fmla="val 7059"/>
            </a:avLst>
          </a:prstGeom>
          <a:solidFill>
            <a:srgbClr val="3B6EA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42316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SciPy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scientific algorithms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88720" y="3291840"/>
            <a:ext cx="6583680" cy="777240"/>
          </a:xfrm>
          <a:prstGeom prst="roundRect">
            <a:avLst>
              <a:gd name="adj" fmla="val 7059"/>
            </a:avLst>
          </a:prstGeom>
          <a:solidFill>
            <a:srgbClr val="5A87B8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29184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 &amp;  Matplotlib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29184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and visualization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08760" y="4160520"/>
            <a:ext cx="5943600" cy="777240"/>
          </a:xfrm>
          <a:prstGeom prst="roundRect">
            <a:avLst>
              <a:gd name="adj" fmla="val 7059"/>
            </a:avLst>
          </a:prstGeom>
          <a:solidFill>
            <a:srgbClr val="8AABCB"/>
          </a:solidFill>
          <a:ln/>
        </p:spPr>
      </p:sp>
      <p:sp>
        <p:nvSpPr>
          <p:cNvPr id="14" name="Text 12"/>
          <p:cNvSpPr/>
          <p:nvPr/>
        </p:nvSpPr>
        <p:spPr>
          <a:xfrm>
            <a:off x="1783080" y="416052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416052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N-dimensional arrays &amp; numerical operations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0" y="502920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CFE0F0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50292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3120" y="50292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78240" y="1554480"/>
            <a:ext cx="2834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→ Structure → Application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Science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622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package for numerical computing in Python — providing fast, memory-efficient n-dimensional array objects and vectorized operations.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91440" cy="9144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ndarray: fast, typed arrays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4087368"/>
            <a:ext cx="91440" cy="9144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9502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math (no loops)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471416"/>
            <a:ext cx="91440" cy="9144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3342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&amp; reshaping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855464"/>
            <a:ext cx="91440" cy="9144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7183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algebra, FFT, random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Example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0" y="914400"/>
            <a:ext cx="7040880" cy="1965960"/>
          </a:xfrm>
          <a:prstGeom prst="roundRect">
            <a:avLst>
              <a:gd name="adj" fmla="val 2791"/>
            </a:avLst>
          </a:prstGeom>
          <a:solidFill>
            <a:srgbClr val="1E2F52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05156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2, 3, 4])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* 2               </a:t>
            </a: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vectorized, no loop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np.linspace(0, 1, 5)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= np.random.rand(3, 3)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0" y="3566160"/>
            <a:ext cx="54864" cy="594360"/>
          </a:xfrm>
          <a:prstGeom prst="roundRect">
            <a:avLst/>
          </a:prstGeom>
          <a:solidFill>
            <a:srgbClr val="3B6EA5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56616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 </a:t>
            </a: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run in compiled C, ~10-100x faster than native Python loops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0" y="4279392"/>
            <a:ext cx="54864" cy="594360"/>
          </a:xfrm>
          <a:prstGeom prst="roundRect">
            <a:avLst/>
          </a:prstGeom>
          <a:solidFill>
            <a:srgbClr val="3B6EA5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4279392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 </a:t>
            </a: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SciPy, Scikit-learn, and Matplotlib all store data as NumPy arrays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0" y="4992624"/>
            <a:ext cx="54864" cy="594360"/>
          </a:xfrm>
          <a:prstGeom prst="roundRect">
            <a:avLst/>
          </a:prstGeom>
          <a:solidFill>
            <a:srgbClr val="3B6EA5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4992624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 </a:t>
            </a: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Fixed-type arrays use far less memory than Python lists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Science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0"/>
            <a:ext cx="4160520" cy="6858000"/>
          </a:xfrm>
          <a:prstGeom prst="rect">
            <a:avLst/>
          </a:prstGeom>
          <a:solidFill>
            <a:srgbClr val="16223B"/>
          </a:solidFill>
          <a:ln/>
        </p:spPr>
      </p:sp>
      <p:sp>
        <p:nvSpPr>
          <p:cNvPr id="3" name="Text 1"/>
          <p:cNvSpPr/>
          <p:nvPr/>
        </p:nvSpPr>
        <p:spPr>
          <a:xfrm>
            <a:off x="845820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868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5820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58200" y="20574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NumPy, Pandas introduces labeled, tabular data structures — DataFrame and Series — for cleaning, transforming, and analyzing real-world datasets.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58200" y="3703320"/>
            <a:ext cx="91440" cy="9144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3566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&amp; Series objects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458200" y="4087368"/>
            <a:ext cx="91440" cy="9144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0" y="39502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CSV, Excel, SQL, JSON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58200" y="4471416"/>
            <a:ext cx="91440" cy="9144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0" y="433425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GroupBy, merge, pivot tables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58200" y="4855464"/>
            <a:ext cx="91440" cy="9144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471830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handling of missing data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Example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914400"/>
            <a:ext cx="7040880" cy="1965960"/>
          </a:xfrm>
          <a:prstGeom prst="roundRect">
            <a:avLst>
              <a:gd name="adj" fmla="val 2791"/>
            </a:avLst>
          </a:prstGeom>
          <a:solidFill>
            <a:srgbClr val="1E2F5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105156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pd.read_csv('sales.csv')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df.groupby('region')['sales'].sum()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df['profit'] = df.revenue - df.cost   </a:t>
            </a: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 col
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54864" cy="594360"/>
          </a:xfrm>
          <a:prstGeom prst="roundRect">
            <a:avLst/>
          </a:prstGeom>
          <a:solidFill>
            <a:srgbClr val="3B6EA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56616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messy  </a:t>
            </a: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tools for missing values, duplicates, and type conversion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279392"/>
            <a:ext cx="54864" cy="594360"/>
          </a:xfrm>
          <a:prstGeom prst="roundRect">
            <a:avLst/>
          </a:prstGeom>
          <a:solidFill>
            <a:srgbClr val="3B6EA5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279392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indexing  </a:t>
            </a: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align data by column/row name, not just position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992624"/>
            <a:ext cx="54864" cy="594360"/>
          </a:xfrm>
          <a:prstGeom prst="roundRect">
            <a:avLst/>
          </a:prstGeom>
          <a:solidFill>
            <a:srgbClr val="3B6EA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992624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facto standard  </a:t>
            </a: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 for almost every data science project in Python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Science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Matplotlib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with Matplotlib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plotting library — static, animated, and interactive figures for exploring and presenting data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03520" cy="2103120"/>
          </a:xfrm>
          <a:prstGeom prst="roundRect">
            <a:avLst>
              <a:gd name="adj" fmla="val 2609"/>
            </a:avLst>
          </a:prstGeom>
          <a:solidFill>
            <a:srgbClr val="1E2F5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y, label='trend')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plt.xlabel('Time'); plt.ylabel('Value')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plt.legend(); plt.title('Sales Trend')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plt.savefig('trend.png')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78308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3200400"/>
            <a:ext cx="502920" cy="45720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9" name="Shape 7"/>
          <p:cNvSpPr/>
          <p:nvPr/>
        </p:nvSpPr>
        <p:spPr>
          <a:xfrm>
            <a:off x="7196328" y="2834640"/>
            <a:ext cx="502920" cy="82296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0" name="Shape 8"/>
          <p:cNvSpPr/>
          <p:nvPr/>
        </p:nvSpPr>
        <p:spPr>
          <a:xfrm>
            <a:off x="7900416" y="3063240"/>
            <a:ext cx="502920" cy="59436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1" name="Shape 9"/>
          <p:cNvSpPr/>
          <p:nvPr/>
        </p:nvSpPr>
        <p:spPr>
          <a:xfrm>
            <a:off x="8604504" y="2468880"/>
            <a:ext cx="502920" cy="118872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2" name="Shape 10"/>
          <p:cNvSpPr/>
          <p:nvPr/>
        </p:nvSpPr>
        <p:spPr>
          <a:xfrm>
            <a:off x="9308592" y="2743200"/>
            <a:ext cx="502920" cy="91440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12680" y="2194560"/>
            <a:ext cx="502920" cy="1463040"/>
          </a:xfrm>
          <a:prstGeom prst="rect">
            <a:avLst/>
          </a:prstGeom>
          <a:solidFill>
            <a:srgbClr val="FFC93C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3657600"/>
            <a:ext cx="4937760" cy="0"/>
          </a:xfrm>
          <a:prstGeom prst="line">
            <a:avLst/>
          </a:prstGeom>
          <a:noFill/>
          <a:ln w="12700">
            <a:solidFill>
              <a:srgbClr val="C9D2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Types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626864"/>
            <a:ext cx="82296" cy="82296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4988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&amp; scatter plots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83280" y="4626864"/>
            <a:ext cx="82296" cy="82296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19" name="Text 17"/>
          <p:cNvSpPr/>
          <p:nvPr/>
        </p:nvSpPr>
        <p:spPr>
          <a:xfrm>
            <a:off x="3584448" y="44988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histogram charts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10912"/>
            <a:ext cx="82296" cy="82296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8828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&amp; heatmaps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83280" y="5010912"/>
            <a:ext cx="82296" cy="82296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23" name="Text 21"/>
          <p:cNvSpPr/>
          <p:nvPr/>
        </p:nvSpPr>
        <p:spPr>
          <a:xfrm>
            <a:off x="3584448" y="48828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and subplot grids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11480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CFE0F0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279392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numbers into interpretable visuals for exploratory analysis, model diagnostics, and reports — and underlies higher-level libraries like Seaborn and Pandas' built-in .plot().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Science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SciPy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Computing with SciPy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directly on NumPy arrays, SciPy adds a library of algorithms for optimization, statistics, and signal processing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116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C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scipy.stats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245059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distributions, hypothesis tests, descriptive statistics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20116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C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scipy.optimize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98848" y="245059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finding, curve fitting, and function minimization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7888" y="20116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/>
        </p:spPr>
      </p:sp>
      <p:sp>
        <p:nvSpPr>
          <p:cNvPr id="15" name="Text 13"/>
          <p:cNvSpPr/>
          <p:nvPr/>
        </p:nvSpPr>
        <p:spPr>
          <a:xfrm>
            <a:off x="8247888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C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scipy.linalg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47888" y="245059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linear algebra beyond NumPy (decompositions, solvers)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6576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C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scipy.integrate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9808" y="409651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integration and ODE solvers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347472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98848" y="36576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/>
        </p:spPr>
      </p:sp>
      <p:sp>
        <p:nvSpPr>
          <p:cNvPr id="23" name="Text 21"/>
          <p:cNvSpPr/>
          <p:nvPr/>
        </p:nvSpPr>
        <p:spPr>
          <a:xfrm>
            <a:off x="4498848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C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scipy.signal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98848" y="409651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convolution, and signal processing tools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0" y="347472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47888" y="36576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/>
        </p:spPr>
      </p:sp>
      <p:sp>
        <p:nvSpPr>
          <p:cNvPr id="27" name="Text 25"/>
          <p:cNvSpPr/>
          <p:nvPr/>
        </p:nvSpPr>
        <p:spPr>
          <a:xfrm>
            <a:off x="8247888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C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scipy.spatial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47888" y="409651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computations, nearest-neighbor, and clustering support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223B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fills the gap between raw arrays and applied science — powering statistics courses, engineering simulations, and preprocessing for machine learning.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Science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Scikit-learn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with Scikit-learn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consistent, well-documented API for classical machine learning — from preprocessing through evaluation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96596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19659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9659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196596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54880" y="19659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9659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12280" y="19659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6223B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19659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49640" y="196596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869680" y="19659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C93C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0" y="19659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Example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1E2F5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4904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
</a:t>
            </a:r>
            <a:endParaRPr lang="en-US" sz="10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train_test_split(X, y)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LinearRegression().fit(X_train, y_train)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preds = model.predict(X_test)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Offers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0" y="3712464"/>
            <a:ext cx="91440" cy="91440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35844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regression &amp; clustering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133088"/>
            <a:ext cx="91440" cy="91440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0050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cross-validation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4553712"/>
            <a:ext cx="91440" cy="91440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42569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 engineering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974336"/>
            <a:ext cx="91440" cy="91440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4846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fit / predict / score API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Science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Tool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reference for what each library is best used for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58368"/>
          </a:xfrm>
          <a:prstGeom prst="rect">
            <a:avLst/>
          </a:prstGeom>
          <a:solidFill>
            <a:srgbClr val="16223B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54680" y="160020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55080" y="160020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1106424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5856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54680" y="225856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ndarray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5080" y="225856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numerical arrays &amp; vectorized math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1693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54680" y="2916936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/ Series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55080" y="2916936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cleaning &amp; analyzing tabular data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1106424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7530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154680" y="357530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/ Axes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3575304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data and model results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33672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2336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SciPy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154680" y="423367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modules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55080" y="4233672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Statistics, optimization &amp; advanced math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658368"/>
          </a:xfrm>
          <a:prstGeom prst="rect">
            <a:avLst/>
          </a:prstGeom>
          <a:solidFill>
            <a:srgbClr val="EEF2F7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89204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154680" y="489204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55080" y="48920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evaluating ML models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Science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108960" cy="310896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libraries, one integrated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C9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is the foundation  —  </a:t>
            </a:r>
            <a:r>
              <a:rPr lang="en-US" sz="125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library stores and computes on NumPy arrays under the hood.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C9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4688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structures the data  —  </a:t>
            </a:r>
            <a:r>
              <a:rPr lang="en-US" sz="125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make cleaning, filtering, and reshaping real-world data manageable.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C9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2461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reveals patterns  —  </a:t>
            </a:r>
            <a:r>
              <a:rPr lang="en-US" sz="125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turns numbers into insight at every stage of analysis.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C9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40233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adds scientific depth  —  </a:t>
            </a:r>
            <a:r>
              <a:rPr lang="en-US" sz="125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Statistics, optimization, and signal processing extend NumPy's capabilities.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C9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8006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operationalizes it  —  </a:t>
            </a:r>
            <a:r>
              <a:rPr lang="en-US" sz="125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API takes you from clean data to a trained, evaluated model.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Science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1E2F52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572000"/>
            <a:ext cx="3291840" cy="3291840"/>
          </a:xfrm>
          <a:prstGeom prst="ellipse">
            <a:avLst/>
          </a:prstGeom>
          <a:solidFill>
            <a:srgbClr val="3B6EA5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33756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24328" y="41148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E2F52"/>
          </a:solidFill>
          <a:ln/>
        </p:spPr>
      </p:sp>
      <p:sp>
        <p:nvSpPr>
          <p:cNvPr id="7" name="Text 5"/>
          <p:cNvSpPr/>
          <p:nvPr/>
        </p:nvSpPr>
        <p:spPr>
          <a:xfrm>
            <a:off x="2624328" y="411480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85616" y="411480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1E2F52"/>
          </a:solidFill>
          <a:ln/>
        </p:spPr>
      </p:sp>
      <p:sp>
        <p:nvSpPr>
          <p:cNvPr id="9" name="Text 7"/>
          <p:cNvSpPr/>
          <p:nvPr/>
        </p:nvSpPr>
        <p:spPr>
          <a:xfrm>
            <a:off x="3785616" y="4114800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47488" y="411480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E2F52"/>
          </a:solidFill>
          <a:ln/>
        </p:spPr>
      </p:sp>
      <p:sp>
        <p:nvSpPr>
          <p:cNvPr id="11" name="Text 9"/>
          <p:cNvSpPr/>
          <p:nvPr/>
        </p:nvSpPr>
        <p:spPr>
          <a:xfrm>
            <a:off x="5047488" y="41148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11696" y="41148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E2F52"/>
          </a:solidFill>
          <a:ln/>
        </p:spPr>
      </p:sp>
      <p:sp>
        <p:nvSpPr>
          <p:cNvPr id="13" name="Text 11"/>
          <p:cNvSpPr/>
          <p:nvPr/>
        </p:nvSpPr>
        <p:spPr>
          <a:xfrm>
            <a:off x="6711696" y="411480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72984" y="4114800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1E2F52"/>
          </a:solidFill>
          <a:ln/>
        </p:spPr>
      </p:sp>
      <p:sp>
        <p:nvSpPr>
          <p:cNvPr id="15" name="Text 13"/>
          <p:cNvSpPr/>
          <p:nvPr/>
        </p:nvSpPr>
        <p:spPr>
          <a:xfrm>
            <a:off x="7872984" y="411480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Science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1178</Words>
  <Application>Microsoft Office PowerPoint</Application>
  <PresentationFormat>Widescreen</PresentationFormat>
  <Paragraphs>232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SANJAY KUMAR S</cp:lastModifiedBy>
  <cp:revision>2</cp:revision>
  <dcterms:created xsi:type="dcterms:W3CDTF">2026-08-03T06:01:10Z</dcterms:created>
  <dcterms:modified xsi:type="dcterms:W3CDTF">2026-08-03T06:20:20Z</dcterms:modified>
</cp:coreProperties>
</file>